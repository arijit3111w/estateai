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4" r:id="rId6"/>
    <p:sldId id="261" r:id="rId7"/>
    <p:sldId id="262" r:id="rId8"/>
    <p:sldId id="263" r:id="rId9"/>
  </p:sldIdLst>
  <p:sldSz cx="14630400" cy="8229600"/>
  <p:notesSz cx="8229600" cy="14630400"/>
  <p:embeddedFontLst>
    <p:embeddedFont>
      <p:font typeface="Barlow" panose="00000500000000000000" pitchFamily="2" charset="0"/>
      <p:regular r:id="rId11"/>
      <p:bold r:id="rId12"/>
      <p:italic r:id="rId13"/>
      <p:boldItalic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99" autoAdjust="0"/>
    <p:restoredTop sz="94610"/>
  </p:normalViewPr>
  <p:slideViewPr>
    <p:cSldViewPr snapToGrid="0" snapToObjects="1">
      <p:cViewPr>
        <p:scale>
          <a:sx n="75" d="100"/>
          <a:sy n="75" d="100"/>
        </p:scale>
        <p:origin x="39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55636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jpe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11" Type="http://schemas.openxmlformats.org/officeDocument/2006/relationships/image" Target="../media/image13.jpeg"/><Relationship Id="rId5" Type="http://schemas.openxmlformats.org/officeDocument/2006/relationships/image" Target="../media/image7.jpeg"/><Relationship Id="rId10" Type="http://schemas.openxmlformats.org/officeDocument/2006/relationships/image" Target="../media/image12.jpe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svg"/><Relationship Id="rId3" Type="http://schemas.openxmlformats.org/officeDocument/2006/relationships/image" Target="../media/image16.png"/><Relationship Id="rId7" Type="http://schemas.openxmlformats.org/officeDocument/2006/relationships/image" Target="../media/image5.png"/><Relationship Id="rId12" Type="http://schemas.openxmlformats.org/officeDocument/2006/relationships/image" Target="../media/image2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9.svg"/><Relationship Id="rId11" Type="http://schemas.openxmlformats.org/officeDocument/2006/relationships/image" Target="../media/image23.svg"/><Relationship Id="rId5" Type="http://schemas.openxmlformats.org/officeDocument/2006/relationships/image" Target="../media/image18.png"/><Relationship Id="rId10" Type="http://schemas.openxmlformats.org/officeDocument/2006/relationships/image" Target="../media/image22.png"/><Relationship Id="rId4" Type="http://schemas.openxmlformats.org/officeDocument/2006/relationships/image" Target="../media/image17.svg"/><Relationship Id="rId9" Type="http://schemas.openxmlformats.org/officeDocument/2006/relationships/image" Target="../media/image21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8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30.png"/><Relationship Id="rId4" Type="http://schemas.openxmlformats.org/officeDocument/2006/relationships/image" Target="../media/image2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14026" y="2972442"/>
            <a:ext cx="7958170" cy="1401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00"/>
              </a:lnSpc>
              <a:buNone/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Double Floor Elegance: Inspiring Front Elevation Designs">
            <a:extLst>
              <a:ext uri="{FF2B5EF4-FFF2-40B4-BE49-F238E27FC236}">
                <a16:creationId xmlns:a16="http://schemas.microsoft.com/office/drawing/2014/main" id="{6B2DF662-FE4D-AFD7-11F3-B855A3BAE5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97951" y="0"/>
            <a:ext cx="5932450" cy="82296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hape 16">
            <a:extLst>
              <a:ext uri="{FF2B5EF4-FFF2-40B4-BE49-F238E27FC236}">
                <a16:creationId xmlns:a16="http://schemas.microsoft.com/office/drawing/2014/main" id="{8EB11ABA-F183-D6D0-F672-CFAF3C5F3D68}"/>
              </a:ext>
            </a:extLst>
          </p:cNvPr>
          <p:cNvSpPr/>
          <p:nvPr/>
        </p:nvSpPr>
        <p:spPr>
          <a:xfrm>
            <a:off x="290251" y="5047010"/>
            <a:ext cx="8205719" cy="1401604"/>
          </a:xfrm>
          <a:prstGeom prst="roundRect">
            <a:avLst>
              <a:gd name="adj" fmla="val 25772"/>
            </a:avLst>
          </a:prstGeom>
          <a:solidFill>
            <a:srgbClr val="0A081B"/>
          </a:solidFill>
          <a:ln w="22860">
            <a:solidFill>
              <a:srgbClr val="37A7E7"/>
            </a:solidFill>
            <a:prstDash val="solid"/>
          </a:ln>
        </p:spPr>
        <p:txBody>
          <a:bodyPr/>
          <a:lstStyle/>
          <a:p>
            <a:r>
              <a:rPr lang="en-US" sz="3600" dirty="0">
                <a:solidFill>
                  <a:schemeClr val="bg1"/>
                </a:solidFill>
              </a:rPr>
              <a:t>MENTOR: </a:t>
            </a:r>
            <a:r>
              <a:rPr lang="en-US" sz="3600" dirty="0" err="1">
                <a:solidFill>
                  <a:schemeClr val="bg1"/>
                </a:solidFill>
              </a:rPr>
              <a:t>Thavayee</a:t>
            </a:r>
            <a:r>
              <a:rPr lang="en-US" sz="3600" dirty="0">
                <a:solidFill>
                  <a:schemeClr val="bg1"/>
                </a:solidFill>
              </a:rPr>
              <a:t> Annadurai</a:t>
            </a:r>
            <a:br>
              <a:rPr lang="en-US" sz="3600" dirty="0">
                <a:solidFill>
                  <a:schemeClr val="bg1"/>
                </a:solidFill>
              </a:rPr>
            </a:br>
            <a:r>
              <a:rPr lang="en-US" sz="3600" dirty="0">
                <a:solidFill>
                  <a:schemeClr val="bg1"/>
                </a:solidFill>
              </a:rPr>
              <a:t>COORDINATOR: Praveen B</a:t>
            </a:r>
            <a:endParaRPr lang="en-IN" sz="3600" dirty="0">
              <a:solidFill>
                <a:schemeClr val="bg1"/>
              </a:solidFill>
            </a:endParaRPr>
          </a:p>
          <a:p>
            <a:endParaRPr lang="en-IN" dirty="0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F38746FB-0E7D-CA8F-C63A-BB5B0F9B4649}"/>
              </a:ext>
            </a:extLst>
          </p:cNvPr>
          <p:cNvSpPr/>
          <p:nvPr/>
        </p:nvSpPr>
        <p:spPr>
          <a:xfrm>
            <a:off x="290251" y="3241557"/>
            <a:ext cx="8205719" cy="855433"/>
          </a:xfrm>
          <a:prstGeom prst="roundRect">
            <a:avLst>
              <a:gd name="adj" fmla="val 16541"/>
            </a:avLst>
          </a:prstGeom>
          <a:solidFill>
            <a:srgbClr val="0A081B">
              <a:alpha val="75000"/>
            </a:srgbClr>
          </a:solidFill>
          <a:ln w="30480">
            <a:solidFill>
              <a:srgbClr val="16FFBB"/>
            </a:solidFill>
            <a:prstDash val="solid"/>
          </a:ln>
        </p:spPr>
        <p:txBody>
          <a:bodyPr/>
          <a:lstStyle/>
          <a:p>
            <a:r>
              <a:rPr lang="en-US" sz="3600" b="1" dirty="0">
                <a:solidFill>
                  <a:srgbClr val="F0FCFF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AI-Based Real Estate Evaluation System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1745" y="1057915"/>
            <a:ext cx="5373909" cy="607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 STATEMENT</a:t>
            </a:r>
          </a:p>
        </p:txBody>
      </p:sp>
      <p:sp>
        <p:nvSpPr>
          <p:cNvPr id="4" name="Text 1"/>
          <p:cNvSpPr/>
          <p:nvPr/>
        </p:nvSpPr>
        <p:spPr>
          <a:xfrm>
            <a:off x="759262" y="2334935"/>
            <a:ext cx="7625477" cy="13882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482060" y="1895707"/>
            <a:ext cx="8328382" cy="5962108"/>
          </a:xfrm>
          <a:prstGeom prst="roundRect">
            <a:avLst>
              <a:gd name="adj" fmla="val 16541"/>
            </a:avLst>
          </a:prstGeom>
          <a:solidFill>
            <a:srgbClr val="0A081B">
              <a:alpha val="75000"/>
            </a:srgbClr>
          </a:solidFill>
          <a:ln w="30480">
            <a:solidFill>
              <a:srgbClr val="16FFB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6" name="Text 3"/>
          <p:cNvSpPr/>
          <p:nvPr/>
        </p:nvSpPr>
        <p:spPr>
          <a:xfrm>
            <a:off x="1006673" y="4214693"/>
            <a:ext cx="2410658" cy="301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endParaRPr lang="en-US" sz="1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006673" y="4646176"/>
            <a:ext cx="3209449" cy="1041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4927878" y="4214693"/>
            <a:ext cx="2410658" cy="301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endParaRPr lang="en-US" sz="1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927878" y="4646176"/>
            <a:ext cx="3209449" cy="694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1006673" y="6399133"/>
            <a:ext cx="2410658" cy="301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endParaRPr lang="en-US" sz="1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1006673" y="6830616"/>
            <a:ext cx="7130653" cy="347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endParaRPr lang="en-US" sz="1700" dirty="0"/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29D3D513-FE00-D0D7-BCCC-224D28990D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2113" y="2215025"/>
            <a:ext cx="7625477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3600" b="1" dirty="0">
              <a:solidFill>
                <a:schemeClr val="bg1"/>
              </a:solidFill>
            </a:endParaRPr>
          </a:p>
          <a:p>
            <a:r>
              <a:rPr lang="en-US" sz="3600" dirty="0">
                <a:solidFill>
                  <a:schemeClr val="bg1"/>
                </a:solidFill>
              </a:rPr>
              <a:t>●</a:t>
            </a:r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 estate pricing often lacks transparency and fairness.</a:t>
            </a:r>
          </a:p>
          <a:p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● Buyers struggle to estimate the true market value of    properties.</a:t>
            </a:r>
          </a:p>
          <a:p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● Market trends and loan options are scattered across multiple sources.</a:t>
            </a:r>
          </a:p>
          <a:p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● Leads to confusion and poor investment decisions.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ea typeface="Sans Serif Collection" panose="020B050204050402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87467" y="611094"/>
            <a:ext cx="5713333" cy="545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3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 STACK</a:t>
            </a:r>
          </a:p>
        </p:txBody>
      </p:sp>
      <p:sp>
        <p:nvSpPr>
          <p:cNvPr id="4" name="Text 1"/>
          <p:cNvSpPr/>
          <p:nvPr/>
        </p:nvSpPr>
        <p:spPr>
          <a:xfrm>
            <a:off x="687467" y="1536621"/>
            <a:ext cx="7769066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345688" y="1469800"/>
            <a:ext cx="8670494" cy="5608577"/>
          </a:xfrm>
          <a:prstGeom prst="roundRect">
            <a:avLst>
              <a:gd name="adj" fmla="val 25772"/>
            </a:avLst>
          </a:prstGeom>
          <a:solidFill>
            <a:srgbClr val="0A081B"/>
          </a:solidFill>
          <a:ln w="22860">
            <a:solidFill>
              <a:srgbClr val="37A7E7"/>
            </a:solidFill>
            <a:prstDash val="solid"/>
          </a:ln>
        </p:spPr>
        <p:txBody>
          <a:bodyPr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Machine Learning &amp; AI: Linear Regression, Random Forest, </a:t>
            </a:r>
            <a:r>
              <a:rPr lang="en-US" altLang="en-US" sz="3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TensorFlow,Scikit</a:t>
            </a:r>
            <a:r>
              <a:rPr lang="en-US" alt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-learn.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Visualization &amp; Analytics: Matplotlib, Seaborn, </a:t>
            </a:r>
            <a:r>
              <a:rPr lang="en-US" altLang="en-US" sz="3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Plotly</a:t>
            </a:r>
            <a:r>
              <a:rPr lang="en-US" alt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Power BI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Mapping: Google Maps API for location visualization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Integration: </a:t>
            </a:r>
            <a:r>
              <a:rPr lang="en-US" altLang="en-US" sz="3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US" alt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backend, Google </a:t>
            </a:r>
            <a:r>
              <a:rPr lang="en-US" altLang="en-US" sz="3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Gemini,Openai</a:t>
            </a:r>
            <a:r>
              <a:rPr lang="en-US" alt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API, for chatbot &amp; loan link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Frontend:Streamlit,html,css,js</a:t>
            </a:r>
            <a:r>
              <a:rPr lang="en-US" alt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React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8C49FBB2-C575-196C-68D2-EBE33E6D4F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19210" y="7657029"/>
            <a:ext cx="2988526" cy="457264"/>
          </a:xfrm>
          <a:prstGeom prst="rect">
            <a:avLst/>
          </a:prstGeom>
        </p:spPr>
      </p:pic>
      <p:pic>
        <p:nvPicPr>
          <p:cNvPr id="1028" name="Picture 4" descr="MS Power BI | QBICO">
            <a:extLst>
              <a:ext uri="{FF2B5EF4-FFF2-40B4-BE49-F238E27FC236}">
                <a16:creationId xmlns:a16="http://schemas.microsoft.com/office/drawing/2014/main" id="{8EF87FD4-FABB-58E6-FB95-4F414B0BEDA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34" t="10297" r="8837" b="11315"/>
          <a:stretch>
            <a:fillRect/>
          </a:stretch>
        </p:blipFill>
        <p:spPr bwMode="auto">
          <a:xfrm>
            <a:off x="12578575" y="412441"/>
            <a:ext cx="1784195" cy="105735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034" name="Picture 10" descr="Google Maps Logo, symbol, meaning, history, PNG, brand">
            <a:extLst>
              <a:ext uri="{FF2B5EF4-FFF2-40B4-BE49-F238E27FC236}">
                <a16:creationId xmlns:a16="http://schemas.microsoft.com/office/drawing/2014/main" id="{4577D3AE-4AB6-1553-A480-14275DEA5C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78574" y="1920576"/>
            <a:ext cx="1784195" cy="100581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042" name="Picture 18" descr="Python Logo Wallpapers - Wallpaper Cave">
            <a:extLst>
              <a:ext uri="{FF2B5EF4-FFF2-40B4-BE49-F238E27FC236}">
                <a16:creationId xmlns:a16="http://schemas.microsoft.com/office/drawing/2014/main" id="{7AFFDDB8-9DF7-CDCD-8DA4-901FB34EA8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78573" y="3484503"/>
            <a:ext cx="1784195" cy="9483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044" name="Picture 20" descr="Some business applications">
            <a:extLst>
              <a:ext uri="{FF2B5EF4-FFF2-40B4-BE49-F238E27FC236}">
                <a16:creationId xmlns:a16="http://schemas.microsoft.com/office/drawing/2014/main" id="{21C70AAD-9420-60E6-D023-1739037DAA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78573" y="4936449"/>
            <a:ext cx="1784194" cy="100581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046" name="Picture 22" descr="FastAPI">
            <a:extLst>
              <a:ext uri="{FF2B5EF4-FFF2-40B4-BE49-F238E27FC236}">
                <a16:creationId xmlns:a16="http://schemas.microsoft.com/office/drawing/2014/main" id="{CB54F42B-86E7-41EA-96B6-5F1EA43CD2C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780" b="21678"/>
          <a:stretch>
            <a:fillRect/>
          </a:stretch>
        </p:blipFill>
        <p:spPr bwMode="auto">
          <a:xfrm>
            <a:off x="12578575" y="6643899"/>
            <a:ext cx="1784195" cy="78281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050" name="Picture 26" descr="A tutorial on Scikit-Learn Pipeline ...">
            <a:extLst>
              <a:ext uri="{FF2B5EF4-FFF2-40B4-BE49-F238E27FC236}">
                <a16:creationId xmlns:a16="http://schemas.microsoft.com/office/drawing/2014/main" id="{2C32C904-C4ED-BA64-3258-D4CC524EE1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58358" y="388968"/>
            <a:ext cx="1886805" cy="117593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052" name="Picture 28" descr="Matplotlib. Introduction: | by ...">
            <a:extLst>
              <a:ext uri="{FF2B5EF4-FFF2-40B4-BE49-F238E27FC236}">
                <a16:creationId xmlns:a16="http://schemas.microsoft.com/office/drawing/2014/main" id="{A55E139D-FA83-0B79-333E-5FAF9CF881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6726" y="2006497"/>
            <a:ext cx="1886805" cy="91989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056" name="Picture 32" descr="Google Quietly Unveils Vibrant New Gemini Logo | Beebom Gadgets">
            <a:extLst>
              <a:ext uri="{FF2B5EF4-FFF2-40B4-BE49-F238E27FC236}">
                <a16:creationId xmlns:a16="http://schemas.microsoft.com/office/drawing/2014/main" id="{D54FA22A-CB18-1263-5393-2A1CDEC8B3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6726" y="3484503"/>
            <a:ext cx="1886805" cy="9483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060" name="Picture 36" descr="Discussion of seaborn logo · Issue #2243 · mwaskom/seaborn">
            <a:extLst>
              <a:ext uri="{FF2B5EF4-FFF2-40B4-BE49-F238E27FC236}">
                <a16:creationId xmlns:a16="http://schemas.microsoft.com/office/drawing/2014/main" id="{C78406F5-92BB-811C-7956-15F71253D8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5245" y="4936449"/>
            <a:ext cx="1753029" cy="106781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026" name="Picture 2" descr="New React Project with Vite in 2024 ...">
            <a:extLst>
              <a:ext uri="{FF2B5EF4-FFF2-40B4-BE49-F238E27FC236}">
                <a16:creationId xmlns:a16="http://schemas.microsoft.com/office/drawing/2014/main" id="{3C766D57-3472-0009-EBFD-6A5EF9662A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9312" y="6514093"/>
            <a:ext cx="1884220" cy="106781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5016" y="522816"/>
            <a:ext cx="4947047" cy="463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50"/>
              </a:lnSpc>
              <a:buNone/>
            </a:pPr>
            <a:r>
              <a:rPr lang="en-US" sz="3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</a:p>
        </p:txBody>
      </p:sp>
      <p:sp>
        <p:nvSpPr>
          <p:cNvPr id="4" name="Shape 2"/>
          <p:cNvSpPr/>
          <p:nvPr/>
        </p:nvSpPr>
        <p:spPr>
          <a:xfrm>
            <a:off x="295265" y="1396493"/>
            <a:ext cx="13927004" cy="4208802"/>
          </a:xfrm>
          <a:prstGeom prst="roundRect">
            <a:avLst>
              <a:gd name="adj" fmla="val 15354"/>
            </a:avLst>
          </a:prstGeom>
          <a:solidFill>
            <a:srgbClr val="0A081B"/>
          </a:solidFill>
          <a:ln w="15240">
            <a:solidFill>
              <a:srgbClr val="16FFB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7" name="Text 4"/>
          <p:cNvSpPr/>
          <p:nvPr/>
        </p:nvSpPr>
        <p:spPr>
          <a:xfrm>
            <a:off x="705016" y="2310581"/>
            <a:ext cx="11604972" cy="2312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Home Loan &amp; Redirection: Calculate EMI and jump directly to bank portals.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Price Trend Visualization: Interactive charts for city or year-based analysis.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Power BI Dashboard Integration: Unified, interactive view of property data,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trends and user analytics.</a:t>
            </a:r>
            <a:endParaRPr lang="en-US" altLang="en-US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Investment Dashboard: ROI, rental yield, and timing insights.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66776" y="7677901"/>
            <a:ext cx="225504" cy="22550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580948" y="4642247"/>
            <a:ext cx="1990130" cy="231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04637" y="5910858"/>
            <a:ext cx="225504" cy="225504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84A16E98-7E85-4F6A-3D7E-B1785CDE64B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641874" y="7765515"/>
            <a:ext cx="2988526" cy="457264"/>
          </a:xfrm>
          <a:prstGeom prst="rect">
            <a:avLst/>
          </a:prstGeom>
        </p:spPr>
      </p:pic>
      <p:sp>
        <p:nvSpPr>
          <p:cNvPr id="37" name="Shape 3">
            <a:extLst>
              <a:ext uri="{FF2B5EF4-FFF2-40B4-BE49-F238E27FC236}">
                <a16:creationId xmlns:a16="http://schemas.microsoft.com/office/drawing/2014/main" id="{A201215B-40DB-72A6-C74A-2EDFA56BAA61}"/>
              </a:ext>
            </a:extLst>
          </p:cNvPr>
          <p:cNvSpPr/>
          <p:nvPr/>
        </p:nvSpPr>
        <p:spPr>
          <a:xfrm>
            <a:off x="1790886" y="6478972"/>
            <a:ext cx="1157998" cy="1149611"/>
          </a:xfrm>
          <a:prstGeom prst="roundRect">
            <a:avLst>
              <a:gd name="adj" fmla="val 18244792"/>
            </a:avLst>
          </a:prstGeom>
          <a:solidFill>
            <a:srgbClr val="16FFB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Shape 3">
            <a:extLst>
              <a:ext uri="{FF2B5EF4-FFF2-40B4-BE49-F238E27FC236}">
                <a16:creationId xmlns:a16="http://schemas.microsoft.com/office/drawing/2014/main" id="{9C2DEC49-5B3F-11CF-A96E-D029BB0B41DB}"/>
              </a:ext>
            </a:extLst>
          </p:cNvPr>
          <p:cNvSpPr/>
          <p:nvPr/>
        </p:nvSpPr>
        <p:spPr>
          <a:xfrm>
            <a:off x="4072005" y="6488505"/>
            <a:ext cx="1157998" cy="1149611"/>
          </a:xfrm>
          <a:prstGeom prst="roundRect">
            <a:avLst>
              <a:gd name="adj" fmla="val 18244792"/>
            </a:avLst>
          </a:prstGeom>
          <a:solidFill>
            <a:srgbClr val="16FFB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Shape 3">
            <a:extLst>
              <a:ext uri="{FF2B5EF4-FFF2-40B4-BE49-F238E27FC236}">
                <a16:creationId xmlns:a16="http://schemas.microsoft.com/office/drawing/2014/main" id="{F0BA537D-9682-14E1-3005-146D2203A20D}"/>
              </a:ext>
            </a:extLst>
          </p:cNvPr>
          <p:cNvSpPr/>
          <p:nvPr/>
        </p:nvSpPr>
        <p:spPr>
          <a:xfrm>
            <a:off x="6709265" y="6488502"/>
            <a:ext cx="1157998" cy="1149614"/>
          </a:xfrm>
          <a:prstGeom prst="roundRect">
            <a:avLst>
              <a:gd name="adj" fmla="val 18244792"/>
            </a:avLst>
          </a:prstGeom>
          <a:solidFill>
            <a:srgbClr val="16FFBB"/>
          </a:solidFill>
          <a:ln/>
        </p:spPr>
        <p:txBody>
          <a:bodyPr/>
          <a:lstStyle/>
          <a:p>
            <a:endParaRPr lang="en-IN" sz="1600" dirty="0"/>
          </a:p>
        </p:txBody>
      </p:sp>
      <p:pic>
        <p:nvPicPr>
          <p:cNvPr id="40" name="Image 0" descr="preencoded.png">
            <a:extLst>
              <a:ext uri="{FF2B5EF4-FFF2-40B4-BE49-F238E27FC236}">
                <a16:creationId xmlns:a16="http://schemas.microsoft.com/office/drawing/2014/main" id="{71C80CEE-4DD4-6764-63BF-955078C1B80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988045" y="6694395"/>
            <a:ext cx="689070" cy="689070"/>
          </a:xfrm>
          <a:prstGeom prst="rect">
            <a:avLst/>
          </a:prstGeom>
        </p:spPr>
      </p:pic>
      <p:pic>
        <p:nvPicPr>
          <p:cNvPr id="41" name="Image 1" descr="preencoded.png">
            <a:extLst>
              <a:ext uri="{FF2B5EF4-FFF2-40B4-BE49-F238E27FC236}">
                <a16:creationId xmlns:a16="http://schemas.microsoft.com/office/drawing/2014/main" id="{12F354FD-32E6-D4A1-7B32-C18A529781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44358" y="6759257"/>
            <a:ext cx="613291" cy="613291"/>
          </a:xfrm>
          <a:prstGeom prst="rect">
            <a:avLst/>
          </a:prstGeom>
        </p:spPr>
      </p:pic>
      <p:pic>
        <p:nvPicPr>
          <p:cNvPr id="44" name="Graphic 43" descr="Upward trend with solid fill">
            <a:extLst>
              <a:ext uri="{FF2B5EF4-FFF2-40B4-BE49-F238E27FC236}">
                <a16:creationId xmlns:a16="http://schemas.microsoft.com/office/drawing/2014/main" id="{781CD0BB-E4DC-13BA-2FEB-86EF88046C9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858000" y="6606109"/>
            <a:ext cx="914400" cy="914400"/>
          </a:xfrm>
          <a:prstGeom prst="rect">
            <a:avLst/>
          </a:prstGeom>
        </p:spPr>
      </p:pic>
      <p:sp>
        <p:nvSpPr>
          <p:cNvPr id="45" name="Shape 3">
            <a:extLst>
              <a:ext uri="{FF2B5EF4-FFF2-40B4-BE49-F238E27FC236}">
                <a16:creationId xmlns:a16="http://schemas.microsoft.com/office/drawing/2014/main" id="{8A0FC05B-13C9-0068-6B54-960C4B6E7523}"/>
              </a:ext>
            </a:extLst>
          </p:cNvPr>
          <p:cNvSpPr/>
          <p:nvPr/>
        </p:nvSpPr>
        <p:spPr>
          <a:xfrm>
            <a:off x="8955507" y="6488505"/>
            <a:ext cx="1157998" cy="1149611"/>
          </a:xfrm>
          <a:prstGeom prst="roundRect">
            <a:avLst>
              <a:gd name="adj" fmla="val 18244792"/>
            </a:avLst>
          </a:prstGeom>
          <a:solidFill>
            <a:srgbClr val="16FFB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Shape 3">
            <a:extLst>
              <a:ext uri="{FF2B5EF4-FFF2-40B4-BE49-F238E27FC236}">
                <a16:creationId xmlns:a16="http://schemas.microsoft.com/office/drawing/2014/main" id="{543FCFE7-3CC6-EFB1-1140-D6291D8B55D7}"/>
              </a:ext>
            </a:extLst>
          </p:cNvPr>
          <p:cNvSpPr/>
          <p:nvPr/>
        </p:nvSpPr>
        <p:spPr>
          <a:xfrm>
            <a:off x="11843283" y="6488505"/>
            <a:ext cx="1157998" cy="1149611"/>
          </a:xfrm>
          <a:prstGeom prst="roundRect">
            <a:avLst>
              <a:gd name="adj" fmla="val 18244792"/>
            </a:avLst>
          </a:prstGeom>
          <a:solidFill>
            <a:srgbClr val="16FFB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7" name="Image 4" descr="preencoded.png">
            <a:extLst>
              <a:ext uri="{FF2B5EF4-FFF2-40B4-BE49-F238E27FC236}">
                <a16:creationId xmlns:a16="http://schemas.microsoft.com/office/drawing/2014/main" id="{7EF72B76-4C80-FA0E-AFBD-CFC42926015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67581" y="6672005"/>
            <a:ext cx="733849" cy="733849"/>
          </a:xfrm>
          <a:prstGeom prst="rect">
            <a:avLst/>
          </a:prstGeom>
        </p:spPr>
      </p:pic>
      <p:pic>
        <p:nvPicPr>
          <p:cNvPr id="48" name="Image 5" descr="preencoded.png">
            <a:extLst>
              <a:ext uri="{FF2B5EF4-FFF2-40B4-BE49-F238E27FC236}">
                <a16:creationId xmlns:a16="http://schemas.microsoft.com/office/drawing/2014/main" id="{C95B9E14-476D-669D-025E-7203FFCD6DB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2098722" y="6759257"/>
            <a:ext cx="647121" cy="64712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64828A7-2F88-F385-0E77-B16E3AC424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19210" y="7657029"/>
            <a:ext cx="2988526" cy="457264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C1AC8CB0-2440-5D6A-D201-33EEA49E2B96}"/>
              </a:ext>
            </a:extLst>
          </p:cNvPr>
          <p:cNvSpPr/>
          <p:nvPr/>
        </p:nvSpPr>
        <p:spPr>
          <a:xfrm>
            <a:off x="640731" y="349912"/>
            <a:ext cx="5967293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3400" b="1" dirty="0">
                <a:solidFill>
                  <a:srgbClr val="F0FCFF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Challenges &amp; Solutions</a:t>
            </a:r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AutoShape 3" descr="Image of ">
            <a:extLst>
              <a:ext uri="{FF2B5EF4-FFF2-40B4-BE49-F238E27FC236}">
                <a16:creationId xmlns:a16="http://schemas.microsoft.com/office/drawing/2014/main" id="{44767CE9-54FB-0D1B-3139-A8822A6FA6C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162800" y="3962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7A0FE0-E3EC-467C-72AD-2D11F3962E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11676" y="0"/>
            <a:ext cx="3918724" cy="822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hape 16">
            <a:extLst>
              <a:ext uri="{FF2B5EF4-FFF2-40B4-BE49-F238E27FC236}">
                <a16:creationId xmlns:a16="http://schemas.microsoft.com/office/drawing/2014/main" id="{646D88A8-6ADB-702E-2CB0-0229374F29F9}"/>
              </a:ext>
            </a:extLst>
          </p:cNvPr>
          <p:cNvSpPr/>
          <p:nvPr/>
        </p:nvSpPr>
        <p:spPr>
          <a:xfrm>
            <a:off x="314960" y="1209040"/>
            <a:ext cx="10058400" cy="6217920"/>
          </a:xfrm>
          <a:prstGeom prst="roundRect">
            <a:avLst>
              <a:gd name="adj" fmla="val 25772"/>
            </a:avLst>
          </a:prstGeom>
          <a:solidFill>
            <a:srgbClr val="0A081B"/>
          </a:solidFill>
          <a:ln w="22860">
            <a:solidFill>
              <a:srgbClr val="37A7E7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B6B237-BB4A-D0FA-7F8A-E7A023F1C9E3}"/>
              </a:ext>
            </a:extLst>
          </p:cNvPr>
          <p:cNvSpPr txBox="1"/>
          <p:nvPr/>
        </p:nvSpPr>
        <p:spPr>
          <a:xfrm>
            <a:off x="640731" y="1810821"/>
            <a:ext cx="9552878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Subjective Pricing:</a:t>
            </a:r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Manual evaluation causes inconsistent and unfair pricing.</a:t>
            </a:r>
          </a:p>
          <a:p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Lack of Data Insights:</a:t>
            </a:r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Prices are not based on market trends or location data.</a:t>
            </a:r>
          </a:p>
          <a:p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Slow Process:</a:t>
            </a:r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Manual estimation takes time and effort for each property.</a:t>
            </a:r>
          </a:p>
          <a:p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Limited Transparency:</a:t>
            </a:r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Buyers and sellers don’t know how prices are calculated.</a:t>
            </a:r>
          </a:p>
          <a:p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Market Volatility:</a:t>
            </a:r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Traditional methods can’t adapt to rapid market changes</a:t>
            </a:r>
            <a:r>
              <a:rPr lang="en-US" sz="3200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48178339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936702" y="726372"/>
            <a:ext cx="3696295" cy="462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400" b="1" dirty="0">
                <a:solidFill>
                  <a:srgbClr val="F0FCFF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FUTURE SCOPE</a:t>
            </a:r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2AFAC351-B765-AD2D-A243-B8163D3E7F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41874" y="7772336"/>
            <a:ext cx="2988526" cy="457264"/>
          </a:xfrm>
          <a:prstGeom prst="rect">
            <a:avLst/>
          </a:prstGeom>
        </p:spPr>
      </p:pic>
      <p:sp>
        <p:nvSpPr>
          <p:cNvPr id="26" name="Shape 2">
            <a:extLst>
              <a:ext uri="{FF2B5EF4-FFF2-40B4-BE49-F238E27FC236}">
                <a16:creationId xmlns:a16="http://schemas.microsoft.com/office/drawing/2014/main" id="{30208062-D37D-50F9-8107-C92DF1B37127}"/>
              </a:ext>
            </a:extLst>
          </p:cNvPr>
          <p:cNvSpPr/>
          <p:nvPr/>
        </p:nvSpPr>
        <p:spPr>
          <a:xfrm>
            <a:off x="582097" y="1516956"/>
            <a:ext cx="7959737" cy="4650164"/>
          </a:xfrm>
          <a:prstGeom prst="roundRect">
            <a:avLst>
              <a:gd name="adj" fmla="val 15354"/>
            </a:avLst>
          </a:prstGeom>
          <a:solidFill>
            <a:srgbClr val="0A081B"/>
          </a:solidFill>
          <a:ln w="15240">
            <a:solidFill>
              <a:srgbClr val="16FFB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FB87D2C-FDA2-0495-F603-D8A26140CA1A}"/>
              </a:ext>
            </a:extLst>
          </p:cNvPr>
          <p:cNvSpPr txBox="1"/>
          <p:nvPr/>
        </p:nvSpPr>
        <p:spPr>
          <a:xfrm>
            <a:off x="936702" y="2161277"/>
            <a:ext cx="6924907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🧾 Blockchain Verification: Secure property ownership and transaction data.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🏡 AR/VR Home Tours: Experience  properties virtually before visiting.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🛰️ Satellite &amp; Drone Data Integration: Analyze neighborhood development and green coverage.</a:t>
            </a:r>
          </a:p>
        </p:txBody>
      </p:sp>
      <p:pic>
        <p:nvPicPr>
          <p:cNvPr id="4100" name="Picture 4" descr="Role of Artificial Intelligence in the Real Estate Sector in India – CREDAI  – MCHI">
            <a:extLst>
              <a:ext uri="{FF2B5EF4-FFF2-40B4-BE49-F238E27FC236}">
                <a16:creationId xmlns:a16="http://schemas.microsoft.com/office/drawing/2014/main" id="{2030EF43-B67D-73E5-B84D-3EECFD4B17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60005" y="0"/>
            <a:ext cx="5670395" cy="82296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0801" y="997623"/>
            <a:ext cx="54864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3400" b="1" dirty="0">
                <a:solidFill>
                  <a:srgbClr val="F0FCFF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Conclusion</a:t>
            </a:r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EA31C94-C8E5-4AA6-B6F6-2E47107BB4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19210" y="7657029"/>
            <a:ext cx="2988526" cy="457264"/>
          </a:xfrm>
          <a:prstGeom prst="rect">
            <a:avLst/>
          </a:prstGeom>
        </p:spPr>
      </p:pic>
      <p:sp>
        <p:nvSpPr>
          <p:cNvPr id="8" name="Shape 16">
            <a:extLst>
              <a:ext uri="{FF2B5EF4-FFF2-40B4-BE49-F238E27FC236}">
                <a16:creationId xmlns:a16="http://schemas.microsoft.com/office/drawing/2014/main" id="{DD8837BC-838F-51E4-82CC-D3765B2F2A5E}"/>
              </a:ext>
            </a:extLst>
          </p:cNvPr>
          <p:cNvSpPr/>
          <p:nvPr/>
        </p:nvSpPr>
        <p:spPr>
          <a:xfrm>
            <a:off x="5967570" y="1895506"/>
            <a:ext cx="7980941" cy="5634280"/>
          </a:xfrm>
          <a:prstGeom prst="roundRect">
            <a:avLst>
              <a:gd name="adj" fmla="val 25772"/>
            </a:avLst>
          </a:prstGeom>
          <a:solidFill>
            <a:srgbClr val="0A081B"/>
          </a:solidFill>
          <a:ln w="22860">
            <a:solidFill>
              <a:srgbClr val="37A7E7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547468-FAA9-34AC-F989-90F8C7EFB1CC}"/>
              </a:ext>
            </a:extLst>
          </p:cNvPr>
          <p:cNvSpPr txBox="1"/>
          <p:nvPr/>
        </p:nvSpPr>
        <p:spPr>
          <a:xfrm>
            <a:off x="6400802" y="2450488"/>
            <a:ext cx="711447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Seamlessly combines AI, analytics, and visualization for smarter real estate insights.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Increases market transparency and decision-making confidence.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Bridges the gap between valuation, loan guidance, and investment analysis.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step toward a future-ready, data-driven property ecosystem</a:t>
            </a:r>
            <a:r>
              <a:rPr lang="en-US" altLang="en-US" sz="3200" dirty="0"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5122" name="Picture 2" descr="Deal between agent and owner. Agreed to buy and sell house ...">
            <a:extLst>
              <a:ext uri="{FF2B5EF4-FFF2-40B4-BE49-F238E27FC236}">
                <a16:creationId xmlns:a16="http://schemas.microsoft.com/office/drawing/2014/main" id="{A9547BF1-30F2-F298-0189-90FA4FF208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5486400" cy="822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64037" y="4197072"/>
            <a:ext cx="12902327" cy="2057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200"/>
              </a:lnSpc>
              <a:buNone/>
            </a:pPr>
            <a:r>
              <a:rPr lang="en-US" sz="12950" b="1" dirty="0">
                <a:solidFill>
                  <a:srgbClr val="F0FCFF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Thank You</a:t>
            </a:r>
            <a:endParaRPr lang="en-US" sz="12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864037" y="6624757"/>
            <a:ext cx="12902327" cy="493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2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Advancing real estate intelligence through data-driven innovation.</a:t>
            </a:r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454ABE-3440-5119-5D7A-C095E6DCEE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19210" y="7657029"/>
            <a:ext cx="2988526" cy="457264"/>
          </a:xfrm>
          <a:prstGeom prst="rect">
            <a:avLst/>
          </a:prstGeom>
        </p:spPr>
      </p:pic>
      <p:pic>
        <p:nvPicPr>
          <p:cNvPr id="6148" name="Picture 4" descr="Row of houses on the street. Cute city concept horizontal banner. Vector  buildings in simple, flat style. Stock Vector | Adobe Stock">
            <a:extLst>
              <a:ext uri="{FF2B5EF4-FFF2-40B4-BE49-F238E27FC236}">
                <a16:creationId xmlns:a16="http://schemas.microsoft.com/office/drawing/2014/main" id="{0658A4F8-54F2-AF83-5B5D-B59ABA658F1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51"/>
          <a:stretch>
            <a:fillRect/>
          </a:stretch>
        </p:blipFill>
        <p:spPr bwMode="auto">
          <a:xfrm>
            <a:off x="0" y="0"/>
            <a:ext cx="14630400" cy="3479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Infosys Springboard | Bangalore">
            <a:extLst>
              <a:ext uri="{FF2B5EF4-FFF2-40B4-BE49-F238E27FC236}">
                <a16:creationId xmlns:a16="http://schemas.microsoft.com/office/drawing/2014/main" id="{AEB84ABA-994E-DD85-9774-1AA85A47C9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77838" y="3883107"/>
            <a:ext cx="2988526" cy="298852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409</TotalTime>
  <Words>359</Words>
  <Application>Microsoft Office PowerPoint</Application>
  <PresentationFormat>Custom</PresentationFormat>
  <Paragraphs>44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Times New Roman</vt:lpstr>
      <vt:lpstr>Arial</vt:lpstr>
      <vt:lpstr>Barlow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Kishhore senthilmurugan</cp:lastModifiedBy>
  <cp:revision>55</cp:revision>
  <dcterms:created xsi:type="dcterms:W3CDTF">2025-10-22T13:11:29Z</dcterms:created>
  <dcterms:modified xsi:type="dcterms:W3CDTF">2025-10-29T12:50:13Z</dcterms:modified>
</cp:coreProperties>
</file>